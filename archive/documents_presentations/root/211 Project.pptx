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19"/>
    <p:restoredTop sz="94610"/>
  </p:normalViewPr>
  <p:slideViewPr>
    <p:cSldViewPr snapToGrid="0" snapToObjects="1">
      <p:cViewPr varScale="1">
        <p:scale>
          <a:sx n="198" d="100"/>
          <a:sy n="198" d="100"/>
        </p:scale>
        <p:origin x="184" y="1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3A5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3A5F"/>
                </a:solidFill>
                <a:latin typeface="Arial"/>
              </a:rPr>
              <a:t>Directional Accuracy by Model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Dir. Acc. (%)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E25-D645-9551-397FF659F1EB}"/>
              </c:ext>
            </c:extLst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E25-D645-9551-397FF659F1EB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E25-D645-9551-397FF659F1EB}"/>
              </c:ext>
            </c:extLst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E25-D645-9551-397FF659F1E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Last Value</c:v>
                </c:pt>
                <c:pt idx="1">
                  <c:v>7-Day MA</c:v>
                </c:pt>
                <c:pt idx="2">
                  <c:v>Ridge</c:v>
                </c:pt>
                <c:pt idx="3">
                  <c:v>LSTM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51.58</c:v>
                </c:pt>
                <c:pt idx="2">
                  <c:v>54.16</c:v>
                </c:pt>
                <c:pt idx="3">
                  <c:v>46.32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E25-D645-9551-397FF659F1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3A5F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E3A5F"/>
                </a:solidFill>
                <a:latin typeface="Arial"/>
              </a:rPr>
              <a:t>Directional Accuracy by Feature Set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Dir. Acc. (%)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AFF-4446-9D09-E21355804437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AFF-4446-9D09-E21355804437}"/>
              </c:ext>
            </c:extLst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AFF-4446-9D09-E21355804437}"/>
              </c:ext>
            </c:extLst>
          </c:dPt>
          <c:dPt>
            <c:idx val="3"/>
            <c:invertIfNegative val="0"/>
            <c:bubble3D val="0"/>
            <c:spPr>
              <a:solidFill>
                <a:srgbClr val="2D5F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AFF-4446-9D09-E2135580443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Lags only</c:v>
                </c:pt>
                <c:pt idx="1">
                  <c:v>+Volume</c:v>
                </c:pt>
                <c:pt idx="2">
                  <c:v>+Volatility</c:v>
                </c:pt>
                <c:pt idx="3">
                  <c:v>All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52.97</c:v>
                </c:pt>
                <c:pt idx="1">
                  <c:v>55.34</c:v>
                </c:pt>
                <c:pt idx="2">
                  <c:v>52.26</c:v>
                </c:pt>
                <c:pt idx="3">
                  <c:v>54.16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AFF-4446-9D09-E213558044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3A5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3A5F"/>
                </a:solidFill>
                <a:latin typeface="Arial"/>
              </a:rPr>
              <a:t>Directional Accuracy by Asset &amp; Model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Last Value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BTC-USD</c:v>
                </c:pt>
                <c:pt idx="1">
                  <c:v>ETH-USD</c:v>
                </c:pt>
                <c:pt idx="2">
                  <c:v>XRP-USD</c:v>
                </c:pt>
                <c:pt idx="3">
                  <c:v>ETC-USD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46-714A-A46F-230681C1AD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7-Day MA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BTC-USD</c:v>
                </c:pt>
                <c:pt idx="1">
                  <c:v>ETH-USD</c:v>
                </c:pt>
                <c:pt idx="2">
                  <c:v>XRP-USD</c:v>
                </c:pt>
                <c:pt idx="3">
                  <c:v>ETC-USD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49.4</c:v>
                </c:pt>
                <c:pt idx="1">
                  <c:v>50.8</c:v>
                </c:pt>
                <c:pt idx="2">
                  <c:v>51.7</c:v>
                </c:pt>
                <c:pt idx="3">
                  <c:v>55.3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46-714A-A46F-230681C1AD9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Lag+Ridge</c:v>
                </c:pt>
              </c:strCache>
            </c:strRef>
          </c:tx>
          <c:spPr>
            <a:solidFill>
              <a:srgbClr val="2D5F8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BTC-USD</c:v>
                </c:pt>
                <c:pt idx="1">
                  <c:v>ETH-USD</c:v>
                </c:pt>
                <c:pt idx="2">
                  <c:v>XRP-USD</c:v>
                </c:pt>
                <c:pt idx="3">
                  <c:v>ETC-USD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49.8</c:v>
                </c:pt>
                <c:pt idx="1">
                  <c:v>53.7</c:v>
                </c:pt>
                <c:pt idx="2">
                  <c:v>51.1</c:v>
                </c:pt>
                <c:pt idx="3">
                  <c:v>53.2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F46-714A-A46F-230681C1AD9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LSTM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BTC-USD</c:v>
                </c:pt>
                <c:pt idx="1">
                  <c:v>ETH-USD</c:v>
                </c:pt>
                <c:pt idx="2">
                  <c:v>XRP-USD</c:v>
                </c:pt>
                <c:pt idx="3">
                  <c:v>ETC-USD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50.5</c:v>
                </c:pt>
                <c:pt idx="1">
                  <c:v>52.2</c:v>
                </c:pt>
                <c:pt idx="2">
                  <c:v>53.3</c:v>
                </c:pt>
                <c:pt idx="3">
                  <c:v>45.6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F46-714A-A46F-230681C1AD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40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6947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057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ECPS 211  ·  Machine Learning &amp; Data Mining  ·  Winter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406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 Price Prediction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5221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Backtesting  ·  Baselines  ·  LSTM  ·  Ablation Study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ETH-USD (Ethereum) via Yahoo Finance  ·  Project 11</a:t>
            </a:r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ECEBEA-0476-2D28-4F18-89927262D89C}"/>
              </a:ext>
            </a:extLst>
          </p:cNvPr>
          <p:cNvSpPr txBox="1"/>
          <p:nvPr/>
        </p:nvSpPr>
        <p:spPr>
          <a:xfrm>
            <a:off x="548640" y="2414842"/>
            <a:ext cx="4574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Members: </a:t>
            </a:r>
            <a:endParaRPr lang="en-US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DA2D84A-269C-BD29-E156-5B7C917AADD0}"/>
              </a:ext>
            </a:extLst>
          </p:cNvPr>
          <p:cNvSpPr/>
          <p:nvPr/>
        </p:nvSpPr>
        <p:spPr>
          <a:xfrm>
            <a:off x="1251183" y="3072732"/>
            <a:ext cx="2915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Tae Moon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cs typeface="Calibri" pitchFamily="34" charset="-120"/>
              </a:rPr>
              <a:t>		Ronnie Yin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cs typeface="Calibri" pitchFamily="34" charset="-120"/>
              </a:rPr>
              <a:t>		Javier Ramos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cs typeface="Calibri" pitchFamily="34" charset="-120"/>
              </a:rPr>
              <a:t>		Abhijit Rao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cs typeface="Calibri" pitchFamily="34" charset="-120"/>
              </a:rPr>
              <a:t>		Hanish Kishan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4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1143000"/>
            <a:ext cx="2715768" cy="1298448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1143000"/>
            <a:ext cx="45720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8328" y="12344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" y="149047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" y="180136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· yfinance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ETH-USD daily OHLCV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– 2026, 3,038 rows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1143000"/>
            <a:ext cx="2715768" cy="1298448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18688" y="1143000"/>
            <a:ext cx="45720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55848" y="12344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55848" y="149047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180136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Value (tomorrow = today)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Moving Average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· RMSE · Dir. Acc.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99632" y="1143000"/>
            <a:ext cx="2715768" cy="1298448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99632" y="1143000"/>
            <a:ext cx="45720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36792" y="12344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49047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 + Ridge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36792" y="180136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return lags + log_volume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volatility_14 · Pipeline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alpha (32 features)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1168" y="2633472"/>
            <a:ext cx="2715768" cy="1298448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01168" y="2633472"/>
            <a:ext cx="45720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8328" y="27249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" y="298094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" y="329184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64→32 units · dropout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· ReduceLROnPlateau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Next-day return target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18688" y="2633472"/>
            <a:ext cx="2715768" cy="1298448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18688" y="2633472"/>
            <a:ext cx="45720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55848" y="27249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55848" y="298094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55848" y="329184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groups: lags, +volume,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+volatility, all 32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 + PDP/ICE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99632" y="2633472"/>
            <a:ext cx="2715768" cy="1298448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99632" y="2633472"/>
            <a:ext cx="45720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36792" y="27249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36792" y="298094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Backtest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36792" y="329184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+120.6% (Sharpe 1.14)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−159.3% · Buy&amp;Hold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ETH-USD bear market test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1097280"/>
            <a:ext cx="4114800" cy="3794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&amp; Split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3840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Provider: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Yahoo Finance via yfinance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Asset: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ETH-USD (Ethereum) — configurable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2017-01-01 to present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3,038 daily records (OHLCV)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Forward-fill, dropna
  Timezone-naive datetime index
</a:t>
            </a: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Time-based only — no shuffle
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Train 70%   Val 15%   Test 15%
  (2,105 / 451 / 452 rows)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097280"/>
            <a:ext cx="4325112" cy="3794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73168" y="12070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Derived Features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73168" y="1572768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73168" y="1572768"/>
            <a:ext cx="4572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1627632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 rₜ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1856232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(Pₜ − Pₜ₋₁) / (Pₜ₋₁ + ε)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2057400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Day-over-day return (stationarity-friendly)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73168" y="2368296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73168" y="2368296"/>
            <a:ext cx="4572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242316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volatility_14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651760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rolling std(returns)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2852928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Backward-looking only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73168" y="3163824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73168" y="3163824"/>
            <a:ext cx="4572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3218688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log_volume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3447288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log(1 + volume)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64845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Log-transformed volume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73168" y="3959352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73168" y="3959352"/>
            <a:ext cx="4572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4014216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lags 1–30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4242816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rₜ₋₁, rₜ₋₂, … rₜ₋₃₀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4443984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return lags + 2 extra features (32 total)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Framework &amp; Metrics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1078992"/>
            <a:ext cx="274320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38328" y="11704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38328" y="15361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8328" y="17373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|yᵢ − ŷᵢ|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" y="19385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of price error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91256" y="1078992"/>
            <a:ext cx="274320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28416" y="11704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28416" y="15361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28416" y="17373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√mean(yᵢ − ŷᵢ)²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28416" y="19385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large errors more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81344" y="1078992"/>
            <a:ext cx="274320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18504" y="11704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Dir. Acc.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18504" y="15361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Accuracy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18504" y="17373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correct up/down sign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18504" y="19385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trading signal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" y="24871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Principles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4320" y="28346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splits only — no data shuffling to prevent future leakage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323697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Expanding-window walk-forward: retrain Ridge on all past data per test window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363931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(Bayesian) for Ridge alpha; objective: validation MAE on returns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" y="404164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test period for all models: baselines, Ridge, and LSTM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" y="4443984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4 feature groups (lags only, +volume, +volatility, all 32)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Models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1097280"/>
            <a:ext cx="4114800" cy="3749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1097280"/>
            <a:ext cx="41148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1 — Last Value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16276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P̂ₜ₊₁  =  Pₜ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" y="2057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Tomorrow's price equals today's price.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information from volume or direction.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Dir. Acc. is not meaningful (predicts no change → often 0%).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788920"/>
            <a:ext cx="1783080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862072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$82.21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" y="3410712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(ETH-USD)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40280" y="2788920"/>
            <a:ext cx="1783080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50008" y="2862072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$117.91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350008" y="3410712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(ETH-USD)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886200"/>
            <a:ext cx="3566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93192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Best on MAE &amp; RMSE across all assets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Directional accuracy is not meaningful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1097280"/>
            <a:ext cx="4325112" cy="3749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17720" y="1097280"/>
            <a:ext cx="4325112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73168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2 — 7-Day Moving Average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73168" y="16276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P̂ₜ₊₁  =  (1/7) Σᵢ₌₀⁶ Pₜ₋ᵢ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73168" y="20574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Smoothed price over 7 prior days.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local trend, filters single-day noise.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Dir. Acc. is meaningful (predicts a direction).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73168" y="2788920"/>
            <a:ext cx="1801368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82896" y="2862072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$138.74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882896" y="3410712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93408" y="2788920"/>
            <a:ext cx="1801368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03136" y="2862072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51.58%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803136" y="3410712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Dir. Acc.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73168" y="388620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19472" y="393192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Best directional accuracy among baselines (51.58%)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Higher MAE/RMSE than last value (more smoothing error)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LAG-FEATURE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Regression with Lag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1078992"/>
            <a:ext cx="4846320" cy="3794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&amp; Pipeline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(32 total):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30 return lags  +  log_volume  +  volatility_14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21408"/>
            <a:ext cx="44805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18541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Scaler: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StandardScaler on all 32 columns via ColumnTransformer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734056"/>
            <a:ext cx="44805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79806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Ridge regression (linear; regularized)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346704"/>
            <a:ext cx="44805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341071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search: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Optuna (Bayesian) over Ridge alpha; objective: validation MAE on returns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alpha applied to test; permutation importance and PDP/ICE computed on test set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959352"/>
            <a:ext cx="44805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40233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Next-day return (stationarity-friendly); price via P̂ₜ₊₁ = Pₜ(1 + r̂ₜ)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57800" y="1078992"/>
            <a:ext cx="3685032" cy="3794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13248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Set Results (ETH-USD)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13248" y="1572768"/>
            <a:ext cx="1572768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22976" y="164592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$83.72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522976" y="219456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95744" y="1572768"/>
            <a:ext cx="1572768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41464" y="1655064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$118.41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205472" y="219456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13248" y="2706624"/>
            <a:ext cx="3255264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522976" y="2779776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54.16%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5522976" y="3328416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Accuracy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13248" y="378561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 Backtest Results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13248" y="4023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past only → predict next day → roll forward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on all past data before each test window (expanding window)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13248" y="44074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± std of MAE and Dir.Acc across multiple test windows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13248" y="468172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window is stricter; Dir.Acc 55.55% ± 5.49%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 Architecture &amp;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1078992"/>
            <a:ext cx="4846320" cy="3794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Next-day return rₜ (not raw price)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Converted: P̂ₜ₊₁ = Pₜ · (1 + r̂ₜ)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67128"/>
            <a:ext cx="44805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23113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Length 30; 3 features per timestep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(ret, log_volume, volatility_14)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25496"/>
            <a:ext cx="44805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88950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Scaling: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StandardScaler fit on train; applied to val/test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483864"/>
            <a:ext cx="44805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354787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LSTM(64) → LSTM(32) → Dense(1)  +  Dropout(0.2)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142232"/>
            <a:ext cx="44805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420624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MSE loss · batch 32 · early stopping on val loss · ReduceLROnPlateau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57800" y="1078992"/>
            <a:ext cx="3685032" cy="3794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13248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Set Results (ETH-USD)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13248" y="1572768"/>
            <a:ext cx="1572768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22976" y="164592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$82.13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522976" y="219456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95744" y="1572768"/>
            <a:ext cx="1572768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05472" y="164592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$117.89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205472" y="219456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13248" y="2706624"/>
            <a:ext cx="3255264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522976" y="2779776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46.32%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5522976" y="3328416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Accuracy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13248" y="3785616"/>
            <a:ext cx="3255264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559552" y="3840480"/>
            <a:ext cx="2962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observation: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MAE ($82.13) is close to Last Value; Dir.Acc (46.32%) is below 50% — no consistent edge over simpler models on ETH-USD.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Model Comparison (ETH-USD, Test Set)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1078992"/>
          <a:ext cx="8741664" cy="16650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638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3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Dir. Acc.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$82.21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$117.91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magnitude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7-Day 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$138.74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$192.77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51.58%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baseline dir.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$83.72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$118.41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54.16%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direction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$82.13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$117.89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46.32%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50% dir.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201168" y="3584448"/>
          <a:ext cx="493776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3"/>
          <p:cNvSpPr/>
          <p:nvPr/>
        </p:nvSpPr>
        <p:spPr>
          <a:xfrm>
            <a:off x="5349240" y="3584448"/>
            <a:ext cx="3593592" cy="1417320"/>
          </a:xfrm>
          <a:prstGeom prst="rect">
            <a:avLst/>
          </a:prstGeom>
          <a:solidFill>
            <a:srgbClr val="F0F9FF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5504688" y="36576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5" name="Text 5"/>
          <p:cNvSpPr/>
          <p:nvPr/>
        </p:nvSpPr>
        <p:spPr>
          <a:xfrm>
            <a:off x="5504688" y="3950208"/>
            <a:ext cx="3291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value wins MAE/RMSE — hard to beat
</a:t>
            </a: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wins direction at 54.16%
</a:t>
            </a: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MA best baseline dir. (51.58%); LSTM below 50% (46.32%)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01168" y="4956048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Last value predicts no change; directional accuracy = 0% is not meaningful.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Ablation — What Actually Helps?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1078992"/>
          <a:ext cx="8741664" cy="219456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Dir. Acc.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Lags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0.028193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52.97%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Lags + Volume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0.028550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55.34%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Lags + Volatility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0.028210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52.26%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(Lags + Vol + Volat.)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0.028497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54.16%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201168" y="3401568"/>
          <a:ext cx="475488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3"/>
          <p:cNvSpPr/>
          <p:nvPr/>
        </p:nvSpPr>
        <p:spPr>
          <a:xfrm>
            <a:off x="5166360" y="3401568"/>
            <a:ext cx="3776472" cy="1600200"/>
          </a:xfrm>
          <a:prstGeom prst="rect">
            <a:avLst/>
          </a:prstGeom>
          <a:solidFill>
            <a:srgbClr val="F0F9F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5321808" y="34930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 Insight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321808" y="379476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 only best MAE (0.028193)
</a:t>
            </a: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volume: largest direction gain
   (+1.9 pp vs lags only)
</a:t>
            </a: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+Volatility alone adds little over lags
</a:t>
            </a: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+Volume gives the largest direction gain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at small cost to magnitude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Permutation Importance · PDP / 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59" y="1078991"/>
            <a:ext cx="8948885" cy="4008163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Permutation Importance (Best Lag+Ridge)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90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each feature 10× · measure MAE increase · ETH-USD test set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170992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3957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lag_16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2395728"/>
            <a:ext cx="2651760" cy="237744"/>
          </a:xfrm>
          <a:prstGeom prst="rect">
            <a:avLst/>
          </a:prstGeom>
          <a:solidFill>
            <a:srgbClr val="0891B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8600" y="227685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626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lag_30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43000" y="2962656"/>
            <a:ext cx="1920240" cy="237744"/>
          </a:xfrm>
          <a:prstGeom prst="rect">
            <a:avLst/>
          </a:prstGeom>
          <a:solidFill>
            <a:srgbClr val="2D5F8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8600" y="284378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35295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log_volume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143000" y="3529584"/>
            <a:ext cx="1371600" cy="237744"/>
          </a:xfrm>
          <a:prstGeom prst="rect">
            <a:avLst/>
          </a:prstGeom>
          <a:solidFill>
            <a:srgbClr val="2D5F8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28600" y="341071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0965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volatility_14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43000" y="4096512"/>
            <a:ext cx="1005840" cy="237744"/>
          </a:xfrm>
          <a:prstGeom prst="rect">
            <a:avLst/>
          </a:prstGeom>
          <a:solidFill>
            <a:srgbClr val="2D5F8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28600" y="397764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459923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features are lag_9, lag_16, and lag_30 (mid-range lags dominate).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and volatility rank 4th/5th — price momentum lags matter most for ETH-USD.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73168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PDP / ICE Insights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73168" y="1572768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73168" y="1572768"/>
            <a:ext cx="45720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92040" y="16642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lag_9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195681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linear PDP — higher lag_9 → higher prediction. Effect is homogeneous across ICE curves (Ridge is linear in features).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73168" y="3054096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73168" y="3054096"/>
            <a:ext cx="45720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92040" y="31455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log_volume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3438144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Flatter PDP — volume has a weaker marginal effect on price than lag features, but matters for directional accuracy (ablation).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73168" y="4571999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curves for lag_9 show similar slope across samples — the linear effect is consistent, not sample-specific.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143000" y="1828800"/>
            <a:ext cx="347472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the Model Fail?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1078992"/>
            <a:ext cx="420624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1078992"/>
            <a:ext cx="420624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8328" y="11521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Long-Tailed Residuals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" y="15544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histogram is centered near zero but has heavy tails — large errors occur in both directions, indicating the model cannot handle sharp price moves.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20624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17720" y="1078992"/>
            <a:ext cx="420624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1521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Clustered Errors Over Time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not uniformly distributed across time. They cluster in volatility regimes — calm periods have smaller errors; turbulent periods have large errors.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1168" y="2999232"/>
            <a:ext cx="420624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01168" y="2999232"/>
            <a:ext cx="420624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8328" y="3072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High-Volatility Failure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" y="347472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|Residual| vs volatility_14 plot shows a positive correlation — larger absolute errors occur when the 14-day rolling volatility is high. Model performs worst in volatile markets.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999232"/>
            <a:ext cx="420624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17720" y="2999232"/>
            <a:ext cx="420624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3072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Smoothed Extrapolation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47472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Lag+Ridge behaves like a smoothed extrapolation of recent price lags. It systematically under- or over-predicts during sharp moves and mean-reverting spikes.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01168" y="4773168"/>
            <a:ext cx="8741664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" y="481888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Lag+Ridge (and simpler models) are smoothing extrapolators — they fail most in high-volatility regimes and on large price moves.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CROSS-ASSET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Generalization Across Cryptocurrencies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01168" y="1078992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79008" y="1078992"/>
            <a:ext cx="3163824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779008" y="1078992"/>
            <a:ext cx="4572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897880" y="11430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BTC-USD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97880" y="13716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dir.: LSTM dir. edge (50.5%)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97880" y="15910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near 50%; last value best MAE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779008" y="2048256"/>
            <a:ext cx="3163824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779008" y="2048256"/>
            <a:ext cx="4572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897880" y="21122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ETH-USD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97880" y="23408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dir.: Ridge (54.16%)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97880" y="2560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more directionally predictable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779008" y="3017520"/>
            <a:ext cx="3163824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779008" y="3017520"/>
            <a:ext cx="4572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897880" y="30815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XRP-USD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897880" y="33101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dir.: LSTM (53.3%)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897880" y="35295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asset where LSTM wins direction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779008" y="3986784"/>
            <a:ext cx="3163824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779008" y="3986784"/>
            <a:ext cx="4572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897880" y="40507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ETC-USD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897880" y="42793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dir.: 7-Day MA (55.3%)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897880" y="44988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directional result; LSTM &lt; 50%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01168" y="4663440"/>
            <a:ext cx="8741664" cy="384048"/>
          </a:xfrm>
          <a:prstGeom prst="rect">
            <a:avLst/>
          </a:prstGeom>
          <a:solidFill>
            <a:srgbClr val="F0F9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47472" y="47183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value wins MAE/RMSE on every asset. ETH-USD: Ridge leads direction (54.16%); 7-Day MA best among baselines (51.58%).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EXPANDING-WINDOW EVALUATION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Expanding-Window Walk-Forward — Ridge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01168" y="10789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Expanding-Window Evaluation Works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463040"/>
            <a:ext cx="530352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01168" y="150876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34440" y="15270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Days 1–531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37960" y="1463040"/>
            <a:ext cx="14630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65392" y="15270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Day 532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97280" y="1920240"/>
            <a:ext cx="530352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1168" y="196596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19842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Days 1–532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37960" y="1920240"/>
            <a:ext cx="14630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65392" y="19842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Day 533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97280" y="2377440"/>
            <a:ext cx="530352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01168" y="242316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34440" y="24414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Days 1–533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37960" y="2377440"/>
            <a:ext cx="14630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65392" y="24414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Day 534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97280" y="2834640"/>
            <a:ext cx="530352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01168" y="288036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34440" y="28986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…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37960" y="2834640"/>
            <a:ext cx="14630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65392" y="28986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…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1168" y="3364992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training window required; retrain Ridge before each test window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01168" y="3657600"/>
            <a:ext cx="8741664" cy="13898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3749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Split vs. Expanding-Window — Ridge (ETH-USD)</a:t>
            </a:r>
            <a:endParaRPr lang="en-US" sz="1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041648"/>
          <a:ext cx="8375904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Fixed-Split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Expanding-Window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$83.72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0.030806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$118.41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Dir. Acc.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54.16%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55.55% ± 5.49%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280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are competitive:  </a:t>
            </a:r>
            <a:r>
              <a:rPr lang="en-US" sz="1200" dirty="0">
                <a:solidFill>
                  <a:srgbClr val="B0D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value achieves best MAE/RMSE across all assets — a surprisingly strong benchmark.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901952"/>
            <a:ext cx="8229600" cy="0"/>
          </a:xfrm>
          <a:prstGeom prst="line">
            <a:avLst/>
          </a:prstGeom>
          <a:noFill/>
          <a:ln w="635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9933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on direction:  </a:t>
            </a:r>
            <a:r>
              <a:rPr lang="en-US" sz="1200" dirty="0">
                <a:solidFill>
                  <a:srgbClr val="B0D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ML model — 54.16% Dir.Acc on ETH-USD test set (best of all models).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615184"/>
            <a:ext cx="8229600" cy="0"/>
          </a:xfrm>
          <a:prstGeom prst="line">
            <a:avLst/>
          </a:prstGeom>
          <a:noFill/>
          <a:ln w="635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70662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LSTM:  </a:t>
            </a:r>
            <a:r>
              <a:rPr lang="en-US" sz="1200" dirty="0">
                <a:solidFill>
                  <a:srgbClr val="B0D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Dir.Acc 46.32%; competitive MAE ($82.13) but below 50% direction.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328416"/>
            <a:ext cx="8229600" cy="0"/>
          </a:xfrm>
          <a:prstGeom prst="line">
            <a:avLst/>
          </a:prstGeom>
          <a:noFill/>
          <a:ln w="635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341985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(4 groups):  </a:t>
            </a:r>
            <a:r>
              <a:rPr lang="en-US" sz="1200" dirty="0">
                <a:solidFill>
                  <a:srgbClr val="B0D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improves direction most (+2.37 pp, from 52.97% to 55.34%). 32 features total — lags + log_volume + volatility_14.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4041648"/>
            <a:ext cx="8229600" cy="0"/>
          </a:xfrm>
          <a:prstGeom prst="line">
            <a:avLst/>
          </a:prstGeom>
          <a:noFill/>
          <a:ln w="635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41330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analysis:  </a:t>
            </a:r>
            <a:r>
              <a:rPr lang="en-US" sz="1200" dirty="0">
                <a:solidFill>
                  <a:srgbClr val="B0D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fail in high-volatility regimes and on large moves. Expanding-window is stricter than fixed-split.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4828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Reproducibility: notebooks/Crypto_Colab_AllInOne.ipynb  ·  Set ASSET (e.g. ETH-USD) and run all cells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1818</Words>
  <Application>Microsoft Macintosh PowerPoint</Application>
  <PresentationFormat>On-screen Show (16:9)</PresentationFormat>
  <Paragraphs>305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 Price Prediction — ECPS 211</dc:title>
  <dc:subject>PptxGenJS Presentation</dc:subject>
  <dc:creator>Tae</dc:creator>
  <cp:lastModifiedBy>Tae Moon</cp:lastModifiedBy>
  <cp:revision>3</cp:revision>
  <dcterms:created xsi:type="dcterms:W3CDTF">2026-02-25T21:09:23Z</dcterms:created>
  <dcterms:modified xsi:type="dcterms:W3CDTF">2026-03-05T00:15:25Z</dcterms:modified>
</cp:coreProperties>
</file>