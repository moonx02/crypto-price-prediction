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5" r:id="rId6"/>
    <p:sldId id="274" r:id="rId7"/>
    <p:sldId id="264" r:id="rId8"/>
    <p:sldId id="268" r:id="rId9"/>
    <p:sldId id="272" r:id="rId10"/>
    <p:sldId id="270" r:id="rId11"/>
    <p:sldId id="271" r:id="rId12"/>
    <p:sldId id="263" r:id="rId13"/>
    <p:sldId id="267" r:id="rId14"/>
    <p:sldId id="265" r:id="rId15"/>
    <p:sldId id="273" r:id="rId16"/>
    <p:sldId id="276" r:id="rId17"/>
    <p:sldId id="266" r:id="rId18"/>
    <p:sldId id="269" r:id="rId19"/>
    <p:sldId id="27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13" autoAdjust="0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160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3A5F"/>
                </a:solidFill>
                <a:latin typeface="Arial"/>
              </a:rPr>
              <a:t>Directional Accuracy by Feature Set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Dir. Acc.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FF-4446-9D09-E21355804437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FF-4446-9D09-E21355804437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FF-4446-9D09-E21355804437}"/>
              </c:ext>
            </c:extLst>
          </c:dPt>
          <c:dPt>
            <c:idx val="3"/>
            <c:invertIfNegative val="0"/>
            <c:bubble3D val="0"/>
            <c:spPr>
              <a:solidFill>
                <a:srgbClr val="2D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FF-4446-9D09-E213558044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Lags only</c:v>
                </c:pt>
                <c:pt idx="1">
                  <c:v>+Volume</c:v>
                </c:pt>
                <c:pt idx="2">
                  <c:v>+Volatility</c:v>
                </c:pt>
                <c:pt idx="3">
                  <c:v>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52.97</c:v>
                </c:pt>
                <c:pt idx="1">
                  <c:v>55.34</c:v>
                </c:pt>
                <c:pt idx="2">
                  <c:v>52.26</c:v>
                </c:pt>
                <c:pt idx="3">
                  <c:v>54.16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FF-4446-9D09-E213558044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3A5F"/>
                </a:solidFill>
                <a:latin typeface="Arial"/>
              </a:rPr>
              <a:t>Directional Accuracy by Model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Dir. Acc.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25-D645-9551-397FF659F1EB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25-D645-9551-397FF659F1EB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25-D645-9551-397FF659F1EB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25-D645-9551-397FF659F1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Last Value</c:v>
                </c:pt>
                <c:pt idx="1">
                  <c:v>7-Day MA</c:v>
                </c:pt>
                <c:pt idx="2">
                  <c:v>Ridge</c:v>
                </c:pt>
                <c:pt idx="3">
                  <c:v>LSTM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51.58</c:v>
                </c:pt>
                <c:pt idx="2">
                  <c:v>54.16</c:v>
                </c:pt>
                <c:pt idx="3">
                  <c:v>46.32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25-D645-9551-397FF659F1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3A5F"/>
                </a:solidFill>
                <a:latin typeface="Arial"/>
              </a:rPr>
              <a:t>Directional Accuracy by Asset &amp; Model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Last Value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BTC-USD</c:v>
                </c:pt>
                <c:pt idx="1">
                  <c:v>ETH-USD</c:v>
                </c:pt>
                <c:pt idx="2">
                  <c:v>XRP-USD</c:v>
                </c:pt>
                <c:pt idx="3">
                  <c:v>ETC-USD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46-714A-A46F-230681C1AD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7-Day MA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BTC-USD</c:v>
                </c:pt>
                <c:pt idx="1">
                  <c:v>ETH-USD</c:v>
                </c:pt>
                <c:pt idx="2">
                  <c:v>XRP-USD</c:v>
                </c:pt>
                <c:pt idx="3">
                  <c:v>ETC-USD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49.8</c:v>
                </c:pt>
                <c:pt idx="1">
                  <c:v>51.6</c:v>
                </c:pt>
                <c:pt idx="2">
                  <c:v>52.3</c:v>
                </c:pt>
                <c:pt idx="3">
                  <c:v>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46-714A-A46F-230681C1AD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Lag+Ridge</c:v>
                </c:pt>
              </c:strCache>
            </c:strRef>
          </c:tx>
          <c:spPr>
            <a:solidFill>
              <a:srgbClr val="2D5F8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BTC-USD</c:v>
                </c:pt>
                <c:pt idx="1">
                  <c:v>ETH-USD</c:v>
                </c:pt>
                <c:pt idx="2">
                  <c:v>XRP-USD</c:v>
                </c:pt>
                <c:pt idx="3">
                  <c:v>ETC-USD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50.3</c:v>
                </c:pt>
                <c:pt idx="1">
                  <c:v>54.2</c:v>
                </c:pt>
                <c:pt idx="2">
                  <c:v>51.8</c:v>
                </c:pt>
                <c:pt idx="3">
                  <c:v>49.9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46-714A-A46F-230681C1AD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BTC-USD</c:v>
                </c:pt>
                <c:pt idx="1">
                  <c:v>ETH-USD</c:v>
                </c:pt>
                <c:pt idx="2">
                  <c:v>XRP-USD</c:v>
                </c:pt>
                <c:pt idx="3">
                  <c:v>ETC-USD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</c:v>
                </c:pt>
                <c:pt idx="1">
                  <c:v>47.7</c:v>
                </c:pt>
                <c:pt idx="2">
                  <c:v>46.6</c:v>
                </c:pt>
                <c:pt idx="3">
                  <c:v>47.5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F46-714A-A46F-230681C1A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94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11AD7-3F90-C3D8-4203-FBE8E9EE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9756F-96B5-DCDD-0990-08219C3AB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74FE5-D6AB-E8DF-1BB7-1D6FACD2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101A9-5142-8BEC-7ED5-FCD293528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7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533B-5FA5-94F2-42C0-107A025A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EAD70-8DC1-69CD-0EEF-72F19A6D2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E5136-7DE2-ABFC-21C6-8F68FB172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1F2AA-ACBF-4DA2-858D-739D9FAB6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63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B5F6-5303-C938-AAB6-F0EBC138A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7E466-AE67-40DE-3783-A0BDA9C67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0FF4D-6CF7-B639-62B3-05700594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C15B4-5FB3-DD0A-3E0A-6497FEA97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0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76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057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ECPS 211  ·  Machine Learning &amp; Data Mining  ·  Winter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40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Price Prediction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221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Backtesting  ·  Baselines  ·  LSTM  ·  Ablation Study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ETH-USD (Ethereum) via Yahoo Finance  ·  Project 11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CEBEA-0476-2D28-4F18-89927262D89C}"/>
              </a:ext>
            </a:extLst>
          </p:cNvPr>
          <p:cNvSpPr txBox="1"/>
          <p:nvPr/>
        </p:nvSpPr>
        <p:spPr>
          <a:xfrm>
            <a:off x="548640" y="2414842"/>
            <a:ext cx="4574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DA2D84A-269C-BD29-E156-5B7C917AADD0}"/>
              </a:ext>
            </a:extLst>
          </p:cNvPr>
          <p:cNvSpPr/>
          <p:nvPr/>
        </p:nvSpPr>
        <p:spPr>
          <a:xfrm>
            <a:off x="672685" y="3072732"/>
            <a:ext cx="2915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Tae Moon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		Ronnie Yin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		Javier Ramos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		Abhijit Rao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		Hanish Kishan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· yfinance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 daily OHLCV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– 2026, 3,008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(tomorrow = today)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Moving Average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 · Dir. Acc.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99632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36792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+ Ridge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return lags + log_volume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volatility_14 · Pipeline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alpha (32 features)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9632" y="270205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9632" y="270205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36792" y="27934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36792" y="30495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36792" y="33604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64→32 units · dropout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· ReduceLROnPlateau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return target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270205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1168" y="270205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" y="27934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30495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" y="33604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groups: lags, +volume,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+volatility, all 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+ PDP/ICE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18688" y="270205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18688" y="270205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55848" y="27934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55848" y="30495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5848" y="33604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+120.6% (Sharpe 1.14)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−159.3% · Buy&amp;Hold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 bear market test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7" y="1097280"/>
            <a:ext cx="4235957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Split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Yahoo Finance via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ETH-USD (Ethereum) — configurable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2017-01-01 to present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3,008 daily records (OHLCV)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Forward-fill,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 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-naive datetime index
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Time-based only — no shuffle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432511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3168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73168" y="157276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73168" y="1572768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 rₜ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5623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(Pₜ − Pₜ₋₁) / (Pₜ₋₁ + ε)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return (stationarity-friendly)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236829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73168" y="2368296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42316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volatility_14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rolling std(returns)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3163824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73168" y="3163824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218688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472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volume)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6484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volume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395935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73168" y="3959352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4014216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lags 1–30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24281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rₜ₋₁, rₜ₋₂, … rₜ₋₃₀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44398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return lags + 2 extra features (32 total)</a:t>
            </a:r>
            <a:endParaRPr lang="en-US" sz="90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CA1DB97-ADFE-1D77-8A56-F80D08B64BB9}"/>
              </a:ext>
            </a:extLst>
          </p:cNvPr>
          <p:cNvGraphicFramePr>
            <a:graphicFrameLocks noGrp="1"/>
          </p:cNvGraphicFramePr>
          <p:nvPr/>
        </p:nvGraphicFramePr>
        <p:xfrm>
          <a:off x="201167" y="3433864"/>
          <a:ext cx="4217667" cy="1458176"/>
        </p:xfrm>
        <a:graphic>
          <a:graphicData uri="http://schemas.openxmlformats.org/drawingml/2006/table">
            <a:tbl>
              <a:tblPr/>
              <a:tblGrid>
                <a:gridCol w="1106866">
                  <a:extLst>
                    <a:ext uri="{9D8B030D-6E8A-4147-A177-3AD203B41FA5}">
                      <a16:colId xmlns:a16="http://schemas.microsoft.com/office/drawing/2014/main" val="4005565623"/>
                    </a:ext>
                  </a:extLst>
                </a:gridCol>
                <a:gridCol w="701738">
                  <a:extLst>
                    <a:ext uri="{9D8B030D-6E8A-4147-A177-3AD203B41FA5}">
                      <a16:colId xmlns:a16="http://schemas.microsoft.com/office/drawing/2014/main" val="1391741917"/>
                    </a:ext>
                  </a:extLst>
                </a:gridCol>
                <a:gridCol w="904303">
                  <a:extLst>
                    <a:ext uri="{9D8B030D-6E8A-4147-A177-3AD203B41FA5}">
                      <a16:colId xmlns:a16="http://schemas.microsoft.com/office/drawing/2014/main" val="3174902278"/>
                    </a:ext>
                  </a:extLst>
                </a:gridCol>
                <a:gridCol w="904303">
                  <a:extLst>
                    <a:ext uri="{9D8B030D-6E8A-4147-A177-3AD203B41FA5}">
                      <a16:colId xmlns:a16="http://schemas.microsoft.com/office/drawing/2014/main" val="2143608643"/>
                    </a:ext>
                  </a:extLst>
                </a:gridCol>
                <a:gridCol w="600457">
                  <a:extLst>
                    <a:ext uri="{9D8B030D-6E8A-4147-A177-3AD203B41FA5}">
                      <a16:colId xmlns:a16="http://schemas.microsoft.com/office/drawing/2014/main" val="264981515"/>
                    </a:ext>
                  </a:extLst>
                </a:gridCol>
              </a:tblGrid>
              <a:tr h="28771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Split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Rows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Start Date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End Date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124011"/>
                  </a:ext>
                </a:extLst>
              </a:tr>
              <a:tr h="2926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TRAIN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Arial" panose="020B0604020202020204" pitchFamily="34" charset="0"/>
                        </a:rPr>
                        <a:t>2105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>
                          <a:effectLst/>
                          <a:latin typeface="Arial" panose="020B0604020202020204" pitchFamily="34" charset="0"/>
                        </a:rPr>
                        <a:t>2017-12-09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dirty="0">
                          <a:effectLst/>
                          <a:latin typeface="Arial" panose="020B0604020202020204" pitchFamily="34" charset="0"/>
                        </a:rPr>
                        <a:t>2023-09-13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>
                          <a:effectLst/>
                          <a:latin typeface="Arial" panose="020B0604020202020204" pitchFamily="34" charset="0"/>
                        </a:rPr>
                        <a:t>70.0%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900282"/>
                  </a:ext>
                </a:extLst>
              </a:tr>
              <a:tr h="2926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VALIDATION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Arial" panose="020B0604020202020204" pitchFamily="34" charset="0"/>
                        </a:rPr>
                        <a:t>451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dirty="0">
                          <a:effectLst/>
                          <a:latin typeface="Arial" panose="020B0604020202020204" pitchFamily="34" charset="0"/>
                        </a:rPr>
                        <a:t>2023-09-14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>
                          <a:effectLst/>
                          <a:latin typeface="Arial" panose="020B0604020202020204" pitchFamily="34" charset="0"/>
                        </a:rPr>
                        <a:t>2024-12-07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Arial" panose="020B0604020202020204" pitchFamily="34" charset="0"/>
                        </a:rPr>
                        <a:t>15.0%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80927"/>
                  </a:ext>
                </a:extLst>
              </a:tr>
              <a:tr h="2926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TEST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5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>
                          <a:effectLst/>
                          <a:latin typeface="Arial" panose="020B0604020202020204" pitchFamily="34" charset="0"/>
                        </a:rPr>
                        <a:t>452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dirty="0">
                          <a:effectLst/>
                          <a:latin typeface="Arial" panose="020B0604020202020204" pitchFamily="34" charset="0"/>
                        </a:rPr>
                        <a:t>2024-12-08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0" dirty="0">
                          <a:effectLst/>
                          <a:latin typeface="Arial" panose="020B0604020202020204" pitchFamily="34" charset="0"/>
                        </a:rPr>
                        <a:t>2026-03-05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>
                          <a:effectLst/>
                          <a:latin typeface="Arial" panose="020B0604020202020204" pitchFamily="34" charset="0"/>
                        </a:rPr>
                        <a:t>15.0%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951283"/>
                  </a:ext>
                </a:extLst>
              </a:tr>
              <a:tr h="2926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3008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050">
                        <a:effectLst/>
                      </a:endParaRP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050" dirty="0">
                        <a:effectLst/>
                      </a:endParaRP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 marL="28369" marR="2836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883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 &amp;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8328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|yᵢ − ŷᵢ|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of price error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28416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√mean(yᵢ − ŷᵢ)²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8416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more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1344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Dir. Acc.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18504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8504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 up/down 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8504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trading signal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24871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Principles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splits only — no data shuffling to prevent future leakage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2369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Expanding-window walk-forward: retrain Ridge on all past data per test window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6393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(Bayesian) for Ridge alpha; objective: validation MAE on returns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0416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period for all models: baselines, Ridge, and LSTM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44398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4 feature groups (lags only, +volume, +volatility, all 32)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411480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9728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1 — Last Value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P̂ₜ₊₁  =  Pₜ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price equals today's price.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information from volume or direction.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 is not meaningful (predicts no change → often 0%).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788920"/>
            <a:ext cx="178308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$82.21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(ETH-USD)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2788920"/>
            <a:ext cx="178308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50008" y="286207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$117.91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50008" y="341071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(ETH-USD)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886200"/>
            <a:ext cx="3566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on MAE &amp; RMSE across all assets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Directional accuracy is not meaningful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4325112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1097280"/>
            <a:ext cx="4325112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2 — 7-Day Moving Average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1627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P̂ₜ₊₁  =  (1/7) Σᵢ₌₀⁶ Pₜ₋ᵢ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73168" y="2057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price over 7 prior days.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local trend, filters single-day noise.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 is meaningful (predicts a direction).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2788920"/>
            <a:ext cx="18013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82896" y="286207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$138.74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882896" y="341071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93408" y="2788920"/>
            <a:ext cx="18013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03136" y="286207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51.58%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803136" y="341071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38862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9472" y="39319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directional accuracy among baselines (51.58%)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Higher MAE/RMSE than last value (more smoothing error)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64A954-8914-ED8C-B8F3-8BB88DDEF786}"/>
              </a:ext>
            </a:extLst>
          </p:cNvPr>
          <p:cNvSpPr txBox="1"/>
          <p:nvPr/>
        </p:nvSpPr>
        <p:spPr>
          <a:xfrm>
            <a:off x="2762430" y="3182112"/>
            <a:ext cx="80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~3.9%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6DD774-63E4-3C4A-E437-FEB24DBBB954}"/>
              </a:ext>
            </a:extLst>
          </p:cNvPr>
          <p:cNvSpPr txBox="1"/>
          <p:nvPr/>
        </p:nvSpPr>
        <p:spPr>
          <a:xfrm>
            <a:off x="919585" y="3198614"/>
            <a:ext cx="80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~2.7%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356EF8-7CDE-20C9-95A0-32AB7423646D}"/>
              </a:ext>
            </a:extLst>
          </p:cNvPr>
          <p:cNvSpPr txBox="1"/>
          <p:nvPr/>
        </p:nvSpPr>
        <p:spPr>
          <a:xfrm>
            <a:off x="5313606" y="3183200"/>
            <a:ext cx="80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~4.6%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LAG-FEATURE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 with Lag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84632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(32 total):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30 return lags  +  log_volume  +  volatility_14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85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StandardScaler on all 32 columns via ColumnTransformer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Ridge regression (linear; regularized)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4107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Optuna (Bayesian) over Ridge alpha; objective: validation MAE on returns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alpha applied to test; permutation importance and PDP/ICE computed on test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59352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023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Next-day return (stationarity-friendly); price via P̂ₜ₊₁ = Pₜ(1 + r̂ₜ)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078992"/>
            <a:ext cx="368503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13248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Results (ETH-USD)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13248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22976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$83.72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22976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95744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41464" y="1655064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$118.41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05472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13248" y="2706624"/>
            <a:ext cx="325526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22976" y="27797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54.16%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22976" y="332841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3785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Backtest Results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past only → predict next day → roll forward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all past data before each test window (expanding window)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13248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 of MAE and Dir.Acc across multiple test windows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13248" y="468172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 is stricter; Dir.Acc 55.55% ± 5.49%</a:t>
            </a:r>
            <a:endParaRPr lang="en-US" sz="9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D52C0E-AA66-F66D-907E-01A24D26BECB}"/>
              </a:ext>
            </a:extLst>
          </p:cNvPr>
          <p:cNvSpPr txBox="1"/>
          <p:nvPr/>
        </p:nvSpPr>
        <p:spPr>
          <a:xfrm>
            <a:off x="7515497" y="1966460"/>
            <a:ext cx="80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~3.9%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AC1CAD-7B33-771F-2102-089002714CD7}"/>
              </a:ext>
            </a:extLst>
          </p:cNvPr>
          <p:cNvSpPr txBox="1"/>
          <p:nvPr/>
        </p:nvSpPr>
        <p:spPr>
          <a:xfrm>
            <a:off x="5815311" y="1966460"/>
            <a:ext cx="80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~2.8%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Ablation — What Actually Helps?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29548"/>
              </p:ext>
            </p:extLst>
          </p:nvPr>
        </p:nvGraphicFramePr>
        <p:xfrm>
          <a:off x="201168" y="1078992"/>
          <a:ext cx="8741664" cy="2194560"/>
        </p:xfrm>
        <a:graphic>
          <a:graphicData uri="http://schemas.openxmlformats.org/drawingml/2006/table">
            <a:tbl>
              <a:tblPr/>
              <a:tblGrid>
                <a:gridCol w="3514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2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0.028193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+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55.34%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+ Volatility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(Lags + Vol + Volat.)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0.028497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201168" y="3401568"/>
          <a:ext cx="47548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166360" y="3401568"/>
            <a:ext cx="3776472" cy="1600200"/>
          </a:xfrm>
          <a:prstGeom prst="rect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321808" y="3493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Insight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21808" y="37947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only best MAE (0.028193)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volume: largest direction gain
   (+2.37 pp vs lags only)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+Volatility alone adds little over lags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+Volume gives the largest direction gain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 small cost to magnitude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-EXPANDING-WINDOW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Expanding-Window Walk-Forward — Ridge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Expanding-Window Evaluation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5087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37960" y="14630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65392" y="1527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9202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" y="19659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9202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65392" y="19842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23774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" y="2423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441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23774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65392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28346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" y="28803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2898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8346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2898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" y="336499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training window required; retrain Ridge before each test window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3657600"/>
            <a:ext cx="8741664" cy="1453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Split vs. Expanding-Window — Ridge (ETH-USD)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772410"/>
              </p:ext>
            </p:extLst>
          </p:nvPr>
        </p:nvGraphicFramePr>
        <p:xfrm>
          <a:off x="365760" y="3989832"/>
          <a:ext cx="8375904" cy="1036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Fixed-Split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Expanding-Window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0.030806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55.55% ± 5.49%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B754B-5486-50DF-485F-1A28523C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841A1C-CE0A-1AF4-91B1-1F167530DF9C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BBFEFC-FB52-A5C2-B4D1-C360BC5D8BE9}"/>
              </a:ext>
            </a:extLst>
          </p:cNvPr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–TRUE ROLLING WINDOW EVALUATION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ED845F-CD83-27C3-ED0C-3E25ADEEE6E4}"/>
              </a:ext>
            </a:extLst>
          </p:cNvPr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Rolling Window— Ridge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C83930-7A4B-C1BA-1DAA-41AE6670F04E}"/>
              </a:ext>
            </a:extLst>
          </p:cNvPr>
          <p:cNvSpPr/>
          <p:nvPr/>
        </p:nvSpPr>
        <p:spPr>
          <a:xfrm>
            <a:off x="201168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True Rolling -Window Evaluation Works  (W:500 Days)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E0E2A6-7D55-658D-089A-47EE4D3EE18C}"/>
              </a:ext>
            </a:extLst>
          </p:cNvPr>
          <p:cNvSpPr/>
          <p:nvPr/>
        </p:nvSpPr>
        <p:spPr>
          <a:xfrm>
            <a:off x="1097280" y="14630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7AA4F6-3E5E-D9D5-FDF8-74490FD1309F}"/>
              </a:ext>
            </a:extLst>
          </p:cNvPr>
          <p:cNvSpPr/>
          <p:nvPr/>
        </p:nvSpPr>
        <p:spPr>
          <a:xfrm>
            <a:off x="201168" y="15087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38D28B-B28E-43B3-29A5-0073F4C5F867}"/>
              </a:ext>
            </a:extLst>
          </p:cNvPr>
          <p:cNvSpPr/>
          <p:nvPr/>
        </p:nvSpPr>
        <p:spPr>
          <a:xfrm>
            <a:off x="1234440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32 … 531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249A73-76EE-C11F-893D-1E907436474B}"/>
              </a:ext>
            </a:extLst>
          </p:cNvPr>
          <p:cNvSpPr/>
          <p:nvPr/>
        </p:nvSpPr>
        <p:spPr>
          <a:xfrm>
            <a:off x="6537960" y="14630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07EAFFF-9684-F347-7228-7881F5FB776C}"/>
              </a:ext>
            </a:extLst>
          </p:cNvPr>
          <p:cNvSpPr/>
          <p:nvPr/>
        </p:nvSpPr>
        <p:spPr>
          <a:xfrm>
            <a:off x="6565392" y="1527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532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99B4F53-852B-A71F-21CF-69813AC13AA6}"/>
              </a:ext>
            </a:extLst>
          </p:cNvPr>
          <p:cNvSpPr/>
          <p:nvPr/>
        </p:nvSpPr>
        <p:spPr>
          <a:xfrm>
            <a:off x="1097280" y="19202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E4DD192-61E5-E44F-B97D-EF5FF2F30689}"/>
              </a:ext>
            </a:extLst>
          </p:cNvPr>
          <p:cNvSpPr/>
          <p:nvPr/>
        </p:nvSpPr>
        <p:spPr>
          <a:xfrm>
            <a:off x="201168" y="19659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1B59D20-1012-995E-CAAE-32F7B8F3E3C6}"/>
              </a:ext>
            </a:extLst>
          </p:cNvPr>
          <p:cNvSpPr/>
          <p:nvPr/>
        </p:nvSpPr>
        <p:spPr>
          <a:xfrm>
            <a:off x="1234440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33 … 532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FEAD38B-B147-66F1-A5A2-8A8E5D28D285}"/>
              </a:ext>
            </a:extLst>
          </p:cNvPr>
          <p:cNvSpPr/>
          <p:nvPr/>
        </p:nvSpPr>
        <p:spPr>
          <a:xfrm>
            <a:off x="6537960" y="19202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7BEFE8C-19D4-AAAD-7655-4E9AC33DB358}"/>
              </a:ext>
            </a:extLst>
          </p:cNvPr>
          <p:cNvSpPr/>
          <p:nvPr/>
        </p:nvSpPr>
        <p:spPr>
          <a:xfrm>
            <a:off x="6565392" y="19842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533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D6FA6C3-03AD-9E0E-8C67-51D298875CBB}"/>
              </a:ext>
            </a:extLst>
          </p:cNvPr>
          <p:cNvSpPr/>
          <p:nvPr/>
        </p:nvSpPr>
        <p:spPr>
          <a:xfrm>
            <a:off x="1097280" y="23774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6C2D19C-E428-F413-7D8F-62E2C74AEA31}"/>
              </a:ext>
            </a:extLst>
          </p:cNvPr>
          <p:cNvSpPr/>
          <p:nvPr/>
        </p:nvSpPr>
        <p:spPr>
          <a:xfrm>
            <a:off x="201168" y="2423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842E799-DE77-C275-95C4-5660BF74D2C3}"/>
              </a:ext>
            </a:extLst>
          </p:cNvPr>
          <p:cNvSpPr/>
          <p:nvPr/>
        </p:nvSpPr>
        <p:spPr>
          <a:xfrm>
            <a:off x="1234440" y="2441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34 … 533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EEE350A-467F-9121-DD1F-940FB6A84449}"/>
              </a:ext>
            </a:extLst>
          </p:cNvPr>
          <p:cNvSpPr/>
          <p:nvPr/>
        </p:nvSpPr>
        <p:spPr>
          <a:xfrm>
            <a:off x="6537960" y="23774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0801EEA-603D-47EE-BFC9-0799D2422B1E}"/>
              </a:ext>
            </a:extLst>
          </p:cNvPr>
          <p:cNvSpPr/>
          <p:nvPr/>
        </p:nvSpPr>
        <p:spPr>
          <a:xfrm>
            <a:off x="6565392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534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D10014B-4A53-85F3-F39D-196DD8436B6C}"/>
              </a:ext>
            </a:extLst>
          </p:cNvPr>
          <p:cNvSpPr/>
          <p:nvPr/>
        </p:nvSpPr>
        <p:spPr>
          <a:xfrm>
            <a:off x="1097280" y="28346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45695FA-A319-D9E6-F1B9-67FB360B6C5B}"/>
              </a:ext>
            </a:extLst>
          </p:cNvPr>
          <p:cNvSpPr/>
          <p:nvPr/>
        </p:nvSpPr>
        <p:spPr>
          <a:xfrm>
            <a:off x="201168" y="28803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157B1F0-8762-9F08-AEEB-D143ECB3391F}"/>
              </a:ext>
            </a:extLst>
          </p:cNvPr>
          <p:cNvSpPr/>
          <p:nvPr/>
        </p:nvSpPr>
        <p:spPr>
          <a:xfrm>
            <a:off x="1234440" y="2898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…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F88EBE1-3D5D-F322-4D11-A67B85A5F9EF}"/>
              </a:ext>
            </a:extLst>
          </p:cNvPr>
          <p:cNvSpPr/>
          <p:nvPr/>
        </p:nvSpPr>
        <p:spPr>
          <a:xfrm>
            <a:off x="6537960" y="28346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0332E84-6FA3-F7F1-7870-B4095F133426}"/>
              </a:ext>
            </a:extLst>
          </p:cNvPr>
          <p:cNvSpPr/>
          <p:nvPr/>
        </p:nvSpPr>
        <p:spPr>
          <a:xfrm>
            <a:off x="6565392" y="2898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…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910FFB4-478E-22A2-8CFA-E6AD8EE49271}"/>
              </a:ext>
            </a:extLst>
          </p:cNvPr>
          <p:cNvSpPr/>
          <p:nvPr/>
        </p:nvSpPr>
        <p:spPr>
          <a:xfrm>
            <a:off x="201168" y="320243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training window required; retrain Ridge before each test window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F0B4241-8FA3-D5C0-2ADD-C829E6C22248}"/>
              </a:ext>
            </a:extLst>
          </p:cNvPr>
          <p:cNvSpPr/>
          <p:nvPr/>
        </p:nvSpPr>
        <p:spPr>
          <a:xfrm>
            <a:off x="201168" y="3423920"/>
            <a:ext cx="8741664" cy="131775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5827FCA-F752-E70F-98E6-608F5613D3E7}"/>
              </a:ext>
            </a:extLst>
          </p:cNvPr>
          <p:cNvSpPr/>
          <p:nvPr/>
        </p:nvSpPr>
        <p:spPr>
          <a:xfrm>
            <a:off x="365760" y="3474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Split vs. True Rolling — Ridge (ETH-USD)</a:t>
            </a:r>
            <a:endParaRPr lang="en-US" sz="1200" dirty="0"/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581A0932-77F0-3748-9FD3-82813DA26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520961"/>
              </p:ext>
            </p:extLst>
          </p:nvPr>
        </p:nvGraphicFramePr>
        <p:xfrm>
          <a:off x="365760" y="3705352"/>
          <a:ext cx="8375904" cy="1036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Fixed-Split Test (Price Ridge)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Rolling </a:t>
                      </a:r>
                      <a:r>
                        <a:rPr lang="en-US" sz="1100" dirty="0"/>
                        <a:t>(W=500, 2508 predictions)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(Price)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(Price)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 (Up/Down)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 24">
            <a:extLst>
              <a:ext uri="{FF2B5EF4-FFF2-40B4-BE49-F238E27FC236}">
                <a16:creationId xmlns:a16="http://schemas.microsoft.com/office/drawing/2014/main" id="{C93B9FA2-65C5-3263-C352-B0701D65C7FB}"/>
              </a:ext>
            </a:extLst>
          </p:cNvPr>
          <p:cNvSpPr/>
          <p:nvPr/>
        </p:nvSpPr>
        <p:spPr>
          <a:xfrm>
            <a:off x="353568" y="472389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 err="1"/>
              <a:t>Lag+Ridge</a:t>
            </a:r>
            <a:r>
              <a:rPr lang="en-US" sz="1000" i="1" dirty="0"/>
              <a:t> predicts next-day price using 30 price lags + previous-day log(volume) and 14-day volatility</a:t>
            </a: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AE9A884-F690-3A6F-2522-F36B8B4F8D72}"/>
              </a:ext>
            </a:extLst>
          </p:cNvPr>
          <p:cNvSpPr/>
          <p:nvPr/>
        </p:nvSpPr>
        <p:spPr>
          <a:xfrm>
            <a:off x="365760" y="488899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/>
              <a:t>True rolling: retrain each step on the last W=500 days; evaluated over 2508 one-step-ahead predictions</a:t>
            </a:r>
          </a:p>
        </p:txBody>
      </p:sp>
    </p:spTree>
    <p:extLst>
      <p:ext uri="{BB962C8B-B14F-4D97-AF65-F5344CB8AC3E}">
        <p14:creationId xmlns:p14="http://schemas.microsoft.com/office/powerpoint/2010/main" val="269796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</a:rPr>
              <a:t>BACKTEST</a:t>
            </a:r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</a:rPr>
              <a:t>Rolling Backtest Strategy &amp; Results</a:t>
            </a:r>
          </a:p>
        </p:txBody>
      </p:sp>
      <p:sp>
        <p:nvSpPr>
          <p:cNvPr id="5" name="Shape 3"/>
          <p:cNvSpPr/>
          <p:nvPr/>
        </p:nvSpPr>
        <p:spPr>
          <a:xfrm>
            <a:off x="201168" y="1014984"/>
            <a:ext cx="4309872" cy="292608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How the Backtest Works</a:t>
            </a:r>
          </a:p>
        </p:txBody>
      </p:sp>
      <p:sp>
        <p:nvSpPr>
          <p:cNvPr id="6" name="Text 4"/>
          <p:cNvSpPr/>
          <p:nvPr/>
        </p:nvSpPr>
        <p:spPr>
          <a:xfrm>
            <a:off x="201168" y="1307592"/>
            <a:ext cx="4309872" cy="2941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 lIns="137160" tIns="137160" rIns="137160" bIns="13716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</a:rPr>
              <a:t>1  Signal Generation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Model predicts next-day return. BUY if predicted return &gt; 0, else stay flat.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</a:rPr>
              <a:t>2a  Expanding Window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Retrain on ALL past data before each prediction. No future leakage. Strictly realistic simulation of live trading.</a:t>
            </a:r>
          </a:p>
          <a:p>
            <a:pPr marL="0" indent="0">
              <a:buNone/>
            </a:pPr>
            <a:endParaRPr lang="en-US" sz="1000" dirty="0">
              <a:solidFill>
                <a:srgbClr val="334155"/>
              </a:solidFill>
              <a:latin typeface="Calibri" pitchFamily="34" charset="0"/>
            </a:endParaRPr>
          </a:p>
          <a:p>
            <a:r>
              <a:rPr lang="en-US" sz="1100" b="1" dirty="0">
                <a:solidFill>
                  <a:srgbClr val="0D9488"/>
                </a:solidFill>
                <a:latin typeface="Calibri" pitchFamily="34" charset="0"/>
              </a:rPr>
              <a:t>2b  True Rolling Window (W=500)</a:t>
            </a:r>
          </a:p>
          <a:p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Retrain on the most recent 500 days before each prediction (fixed window). No future leakage. Better reflects concept drift/regime changes.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</a:rPr>
              <a:t>3  P&amp;L &amp; Sharpe Ratio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On BUY days: accumulate actual return. Sharpe = mean daily P&amp;L / std. Higher Sharpe = better risk-adjusted return.</a:t>
            </a:r>
          </a:p>
          <a:p>
            <a:pPr marL="0" indent="0">
              <a:buNone/>
            </a:pPr>
            <a:r>
              <a:rPr lang="en-US" sz="600" dirty="0">
                <a:solidFill>
                  <a:srgbClr val="94A3B8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</a:rPr>
              <a:t>4  Why It Matters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Bridges academic metrics (MAE, Dir.Acc) to real-world performance. A model can beat 50% direction accuracy and still lose money if it trades in the wrong regime.</a:t>
            </a:r>
          </a:p>
        </p:txBody>
      </p:sp>
      <p:sp>
        <p:nvSpPr>
          <p:cNvPr id="7" name="Shape 5"/>
          <p:cNvSpPr/>
          <p:nvPr/>
        </p:nvSpPr>
        <p:spPr>
          <a:xfrm>
            <a:off x="4511040" y="1006416"/>
            <a:ext cx="4633632" cy="292608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txBody>
          <a:bodyPr lIns="91440" tIns="45720" rIns="91440" bIns="4572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Results by Asset — Ridge vs LSTM</a:t>
            </a:r>
          </a:p>
        </p:txBody>
      </p:sp>
      <p:sp>
        <p:nvSpPr>
          <p:cNvPr id="8" name="Shape 6"/>
          <p:cNvSpPr/>
          <p:nvPr/>
        </p:nvSpPr>
        <p:spPr>
          <a:xfrm>
            <a:off x="4511040" y="1299024"/>
            <a:ext cx="2270160" cy="694656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 lIns="91440" tIns="91440" rIns="91440" bIns="9144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</a:rPr>
              <a:t>ETH-USD  Best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</a:rPr>
              <a:t>Ridge:  +120.6%  Sharpe 1.14  (169 trades)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</a:rPr>
              <a:t>LSTM:  -42.0%  Sharpe -0.39  (57 trades)</a:t>
            </a:r>
          </a:p>
        </p:txBody>
      </p:sp>
      <p:sp>
        <p:nvSpPr>
          <p:cNvPr id="9" name="Shape 7"/>
          <p:cNvSpPr/>
          <p:nvPr/>
        </p:nvSpPr>
        <p:spPr>
          <a:xfrm>
            <a:off x="4511040" y="2030112"/>
            <a:ext cx="2270160" cy="694656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 lIns="91440" tIns="91440" rIns="91440" bIns="9144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</a:rPr>
              <a:t>XRP-USD  Profitable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</a:rPr>
              <a:t>Ridge:  +71.2%  Sharpe 0.60  (126 trades)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</a:rPr>
              <a:t>LSTM:  -5.5%  Sharpe -0.05  (1 trade)</a:t>
            </a:r>
          </a:p>
        </p:txBody>
      </p:sp>
      <p:sp>
        <p:nvSpPr>
          <p:cNvPr id="10" name="Shape 8"/>
          <p:cNvSpPr/>
          <p:nvPr/>
        </p:nvSpPr>
        <p:spPr>
          <a:xfrm>
            <a:off x="6874672" y="1299024"/>
            <a:ext cx="2270160" cy="69465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 lIns="91440" tIns="91440" rIns="91440" bIns="9144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</a:rPr>
              <a:t>BTC-USD  Flat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</a:rPr>
              <a:t>Ridge:  +3.3%  Sharpe 0.05  (228 trades)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</a:rPr>
              <a:t>LSTM:  +29.9%  Sharpe 0.42  (32 trades)</a:t>
            </a:r>
          </a:p>
        </p:txBody>
      </p:sp>
      <p:sp>
        <p:nvSpPr>
          <p:cNvPr id="11" name="Shape 9"/>
          <p:cNvSpPr/>
          <p:nvPr/>
        </p:nvSpPr>
        <p:spPr>
          <a:xfrm>
            <a:off x="6874672" y="2030112"/>
            <a:ext cx="2270160" cy="694656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</p:spPr>
        <p:txBody>
          <a:bodyPr lIns="91440" tIns="91440" rIns="91440" bIns="9144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</a:rPr>
              <a:t>ETC-USD  Worst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</a:rPr>
              <a:t>Ridge:  -67.9%  Sharpe -0.62  (183 trades)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</a:rPr>
              <a:t>LSTM:  -97.6%  Sharpe -0.89  (44 trades)</a:t>
            </a:r>
          </a:p>
        </p:txBody>
      </p:sp>
      <p:sp>
        <p:nvSpPr>
          <p:cNvPr id="12" name="Shape 10"/>
          <p:cNvSpPr/>
          <p:nvPr/>
        </p:nvSpPr>
        <p:spPr>
          <a:xfrm>
            <a:off x="4510368" y="2724768"/>
            <a:ext cx="4633632" cy="1532592"/>
          </a:xfrm>
          <a:prstGeom prst="rect">
            <a:avLst/>
          </a:prstGeom>
          <a:solidFill>
            <a:srgbClr val="EFF6FF"/>
          </a:solidFill>
          <a:ln w="12700">
            <a:solidFill>
              <a:srgbClr val="2D5F8A"/>
            </a:solidFill>
            <a:prstDash val="solid"/>
          </a:ln>
        </p:spPr>
        <p:txBody>
          <a:bodyPr lIns="91440" tIns="91440" rIns="91440" bIns="9144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</a:rPr>
              <a:t>Key Insight: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Dir.Acc does not guarantee profit. Ridge on ETH (54.2% Dir.Acc) yields Sharpe 1.14; the same Ridge on ETC (49.9%) loses 67.9%. Market regime matters more than raw accuracy.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Price error improves vs fixed split: MAE 82.67 → 60.44 (−26.9%), RMSE 118.50 → 100.50 (−15.2%).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Directional accuracy stays ~50%: 51.54% (fixed split) vs 50.50% (true rolling).Interpretation: rolling retraining helps track price level shifts, but next-day direction remains noisy.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</a:rPr>
              <a:t>Evaluation scale: 2508 one-step-ahead predictions (retrain each step).</a:t>
            </a:r>
          </a:p>
        </p:txBody>
      </p:sp>
      <p:sp>
        <p:nvSpPr>
          <p:cNvPr id="13" name="Shape 11"/>
          <p:cNvSpPr/>
          <p:nvPr/>
        </p:nvSpPr>
        <p:spPr>
          <a:xfrm>
            <a:off x="201168" y="4508136"/>
            <a:ext cx="8741664" cy="539352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4128" y="46680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</a:rPr>
              <a:t>ETH Ridge: best result (+120.6%, Sharpe 1.14, 169 trades).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</a:rPr>
              <a:t>ETC: Both models lose despite reasonable Dir. Acc. This confirms high-volatility regime failure from error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</a:rPr>
              <a:t>BACKTEST</a:t>
            </a:r>
          </a:p>
        </p:txBody>
      </p:sp>
      <p:sp>
        <p:nvSpPr>
          <p:cNvPr id="4" name="Text 2"/>
          <p:cNvSpPr/>
          <p:nvPr/>
        </p:nvSpPr>
        <p:spPr>
          <a:xfrm>
            <a:off x="201168" y="456680"/>
            <a:ext cx="8686800" cy="47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</a:rPr>
              <a:t>Cumulative Return — All Assets (Ridge vs LSTM vs Buy &amp; Hold)</a:t>
            </a:r>
          </a:p>
        </p:txBody>
      </p:sp>
      <p:pic>
        <p:nvPicPr>
          <p:cNvPr id="5" name="BTC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36" y="1198600"/>
            <a:ext cx="4295520" cy="1905000"/>
          </a:xfrm>
          <a:prstGeom prst="rect">
            <a:avLst/>
          </a:prstGeom>
        </p:spPr>
      </p:pic>
      <p:pic>
        <p:nvPicPr>
          <p:cNvPr id="6" name="ETH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448" y="1198600"/>
            <a:ext cx="4295520" cy="1905000"/>
          </a:xfrm>
          <a:prstGeom prst="rect">
            <a:avLst/>
          </a:prstGeom>
        </p:spPr>
      </p:pic>
      <p:pic>
        <p:nvPicPr>
          <p:cNvPr id="7" name="XRP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36" y="3158600"/>
            <a:ext cx="4295520" cy="1905000"/>
          </a:xfrm>
          <a:prstGeom prst="rect">
            <a:avLst/>
          </a:prstGeom>
        </p:spPr>
      </p:pic>
      <p:pic>
        <p:nvPicPr>
          <p:cNvPr id="8" name="ETC 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448" y="3158600"/>
            <a:ext cx="429552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Model Comparison (ETH-USD, Test Set)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78992"/>
          <a:ext cx="8741664" cy="1665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3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$82.21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$117.91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magnitude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7-Day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$138.74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$192.77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baseline dir.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$118.41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54.16%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46.32%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50% dir.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201168" y="3584448"/>
          <a:ext cx="49377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5349240" y="3584448"/>
            <a:ext cx="3593592" cy="1417320"/>
          </a:xfrm>
          <a:prstGeom prst="rect">
            <a:avLst/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504688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5"/>
          <p:cNvSpPr/>
          <p:nvPr/>
        </p:nvSpPr>
        <p:spPr>
          <a:xfrm>
            <a:off x="5504688" y="3950208"/>
            <a:ext cx="3291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wins MAE/RMSE — hard to beat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wins direction at 54.16%
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MA best baseline dir. (51.58%); LSTM below 50% (46.32%)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1168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Last value predicts no change; directional accuracy = 0% is not meaningful.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Across Cryptocurrencies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01168" y="1078992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79008" y="1078992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79008" y="1078992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97880" y="1143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371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LSTM (51.0%)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5910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near 50%; last value best MAE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79008" y="2048256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79008" y="2048256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97880" y="21122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2340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Ridge (54.2%)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560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directionally predictable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79008" y="3017520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79008" y="301752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97880" y="3081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XRP-USD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3310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7-Day MA (52.3%)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35295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drops to 46.6%; 7-Day MA leads at 52.3%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79008" y="3986784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779008" y="3986784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97880" y="40507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ETC-USD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97880" y="4279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7-Day MA (55.4%)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97880" y="4498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directional result; LSTM &lt; 50%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01168" y="4700016"/>
            <a:ext cx="8741664" cy="347472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47472" y="47183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wins MAE/RMSE on every asset. ETH-USD: Ridge leads direction (54.2%); XRP-USD: 7-Day MA leads (52.3%). ETC: LSTM &lt; 50% on all 3 ML assets.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Importance · PDP / 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59" y="1078991"/>
            <a:ext cx="8948885" cy="4008163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Importance (Best Lag+Ridge)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each feature 10× · measure MAE increase · ETH-USD test 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17099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2395728"/>
            <a:ext cx="265176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22768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2962656"/>
            <a:ext cx="192024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84378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529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43000" y="3529584"/>
            <a:ext cx="137160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341071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volatility_14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4096512"/>
            <a:ext cx="100584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39776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59923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features are lag_9, lag_16, and lag_30 (mid-range lags dominate).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volatility rank 4th/5th — price momentum lags matter most for ETH-USD.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 / ICE Insights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73168" y="1572768"/>
            <a:ext cx="457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9568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linear PDP — higher lag_9 → higher prediction. Effect is homogeneous across ICE curves (Ridge is linear in features).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73168" y="3054096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73168" y="3054096"/>
            <a:ext cx="457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145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4381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 PDP — volume has a weaker marginal effect on price than lag features, but matters for directional accuracy (ablation).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4571999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curves for lag_9 show similar slope across samples — the linear effect is consistent, not sample-specific.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43000" y="1828800"/>
            <a:ext cx="3474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8CFF-FB58-8A3E-FA9F-7A0CF46B7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48C110-C4C5-7407-B5BC-616F2475F3A5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FD3E37-2687-12F4-6373-BE0B95E04964}"/>
              </a:ext>
            </a:extLst>
          </p:cNvPr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FE01F1-7EFA-794B-1B5B-E8230A6233FE}"/>
              </a:ext>
            </a:extLst>
          </p:cNvPr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Architecture</a:t>
            </a:r>
            <a:endParaRPr lang="en-US" sz="2800" dirty="0"/>
          </a:p>
        </p:txBody>
      </p:sp>
      <p:sp>
        <p:nvSpPr>
          <p:cNvPr id="30" name="AutoShape 2">
            <a:extLst>
              <a:ext uri="{FF2B5EF4-FFF2-40B4-BE49-F238E27FC236}">
                <a16:creationId xmlns:a16="http://schemas.microsoft.com/office/drawing/2014/main" id="{7BD9FEF7-FE78-D652-69C5-0122DFB537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C8F6B4-714C-A4E2-871A-CBEF01886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1297857"/>
            <a:ext cx="9076256" cy="29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7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Architecture &amp;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84632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Next-day return rₜ (not raw price)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Converted: P̂ₜ₊₁ = Pₜ · (1 + r̂ₜ)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311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Length 30; 3 features per timestep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(ret, log_volume, volatility_14)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25496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8895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StandardScaler fit on train; applied to val/test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LSTM(64) → LSTM(32) → Dense(1)  +  Dropout(0.2)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42232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4206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MSE loss · batch 32 · early stopping on val loss · ReduceLROnPlateau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078992"/>
            <a:ext cx="368503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13248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Results (ETH-USD)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13248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22976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$82.13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22976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95744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47307" y="1645920"/>
            <a:ext cx="14696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$117.89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05472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13248" y="2706624"/>
            <a:ext cx="325526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22976" y="27797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46.32%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22976" y="332841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13248" y="3785616"/>
            <a:ext cx="325526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59552" y="3840480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MAE ($82.13) is close to Last Value; Dir.Acc (46.32%) is below 50% — no consistent edge over simpler models on ETH-USD.</a:t>
            </a:r>
            <a:endParaRPr lang="en-US" sz="1000" dirty="0"/>
          </a:p>
        </p:txBody>
      </p:sp>
      <p:sp>
        <p:nvSpPr>
          <p:cNvPr id="30" name="AutoShape 2">
            <a:extLst>
              <a:ext uri="{FF2B5EF4-FFF2-40B4-BE49-F238E27FC236}">
                <a16:creationId xmlns:a16="http://schemas.microsoft.com/office/drawing/2014/main" id="{3CDD81CD-B482-D4FD-2404-7718597CFD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A7D1B5-246F-F276-CCAD-9E44929206A5}"/>
              </a:ext>
            </a:extLst>
          </p:cNvPr>
          <p:cNvSpPr txBox="1"/>
          <p:nvPr/>
        </p:nvSpPr>
        <p:spPr>
          <a:xfrm>
            <a:off x="7515497" y="1966460"/>
            <a:ext cx="80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~3.9%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677F66-9FCF-4207-939C-A98EDD6CF270}"/>
              </a:ext>
            </a:extLst>
          </p:cNvPr>
          <p:cNvSpPr txBox="1"/>
          <p:nvPr/>
        </p:nvSpPr>
        <p:spPr>
          <a:xfrm>
            <a:off x="5815311" y="1966460"/>
            <a:ext cx="80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~2.7%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Model Fail?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07899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Long-Tailed Residuals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histogram is centered near zero but has heavy tails — large errors occur in both directions, indicating the model cannot handle sharp price moves.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07899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Clustered Errors Over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not uniformly distributed across time. They cluster in volatility regimes — calm periods have smaller errors; turbulent periods have large errors.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99923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" y="299923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High-Volatility 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|Residual| vs volatility_14 plot shows a positive correlation — larger absolute errors occur when the 14-day rolling volatility is high. Model performs worst in volatile markets.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99923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299923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Smoothed Extrapolation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Lag+Ridge behaves like a smoothed extrapolation of recent price lags. It systematically under- or over-predicts during sharp moves and mean-reverting spikes.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4773168"/>
            <a:ext cx="8741664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48188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Lag+Ridge (and simpler models) are smoothing extrapolators — they fail most in high-volatility regimes and on large price moves.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 competitive: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achieves best MAE/RMSE across all assets — a surprisingly strong benchmark.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01952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on direction: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ML model — 54.16% Dir.Acc on ETH-USD test set (best of all models).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15184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70662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Dir.Acc 46.32%; competitive MAE ($82.13) but below 50% direction.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328416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41985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(4 groups):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improves direction most (+2.37 pp, from 52.97% to 55.34%).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features total — lags + log_volume + volatility_14.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041648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 </a:t>
            </a: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fail in high-volatility regimes and on large moves. Expanding-window is stricter than fixed-split.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00481-6020-FD8D-935F-4EA57A4C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0633D1-6AB0-E35B-B300-81DC6CC4E64B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252485-2C5C-03C4-6CE4-09A9B0E84C5B}"/>
              </a:ext>
            </a:extLst>
          </p:cNvPr>
          <p:cNvSpPr/>
          <p:nvPr/>
        </p:nvSpPr>
        <p:spPr>
          <a:xfrm>
            <a:off x="2346792" y="4819039"/>
            <a:ext cx="4450415" cy="195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The table below maps each project phase to the core ML concept from ECPS 211 lectures.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63AE29-CCC2-D59F-D140-0FF043E387C7}"/>
              </a:ext>
            </a:extLst>
          </p:cNvPr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Concepts</a:t>
            </a:r>
            <a:endParaRPr lang="en-US" sz="280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32AD3C7F-B75A-CB19-B39A-0FB15D11AAD3}"/>
              </a:ext>
            </a:extLst>
          </p:cNvPr>
          <p:cNvGraphicFramePr>
            <a:graphicFrameLocks noGrp="1"/>
          </p:cNvGraphicFramePr>
          <p:nvPr/>
        </p:nvGraphicFramePr>
        <p:xfrm>
          <a:off x="320039" y="932688"/>
          <a:ext cx="8129255" cy="3699581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2435036">
                  <a:extLst>
                    <a:ext uri="{9D8B030D-6E8A-4147-A177-3AD203B41FA5}">
                      <a16:colId xmlns:a16="http://schemas.microsoft.com/office/drawing/2014/main" val="3010690330"/>
                    </a:ext>
                  </a:extLst>
                </a:gridCol>
                <a:gridCol w="2707574">
                  <a:extLst>
                    <a:ext uri="{9D8B030D-6E8A-4147-A177-3AD203B41FA5}">
                      <a16:colId xmlns:a16="http://schemas.microsoft.com/office/drawing/2014/main" val="3921967104"/>
                    </a:ext>
                  </a:extLst>
                </a:gridCol>
                <a:gridCol w="2986645">
                  <a:extLst>
                    <a:ext uri="{9D8B030D-6E8A-4147-A177-3AD203B41FA5}">
                      <a16:colId xmlns:a16="http://schemas.microsoft.com/office/drawing/2014/main" val="2937380556"/>
                    </a:ext>
                  </a:extLst>
                </a:gridCol>
              </a:tblGrid>
              <a:tr h="2997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Project Phase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Technique Used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Core Lecture Concept</a:t>
                      </a:r>
                      <a:endParaRPr lang="en-US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295369"/>
                  </a:ext>
                </a:extLst>
              </a:tr>
              <a:tr h="318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Data preprocessing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Return transformation, log_volume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Stationarity; feature normalization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5863669"/>
                  </a:ext>
                </a:extLst>
              </a:tr>
              <a:tr h="2997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Train/val/test split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Chronological 70/15/15 split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Data leakage; temporal ordering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03293"/>
                  </a:ext>
                </a:extLst>
              </a:tr>
              <a:tr h="2997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Baseline models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Last value, 7-day MA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Setting performance floors; EMH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434831"/>
                  </a:ext>
                </a:extLst>
              </a:tr>
              <a:tr h="318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Ridge Regression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L2-regularised linear model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Bias-variance tradeoff; regularization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438859"/>
                  </a:ext>
                </a:extLst>
              </a:tr>
              <a:tr h="318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Feature scaling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StandardScaler (fit on train only)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Scale-invariance; leakage prevention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700367"/>
                  </a:ext>
                </a:extLst>
              </a:tr>
              <a:tr h="2997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Hyperparameter tuning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Optuna Bayesian optimisation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Model selection; efficient search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517000"/>
                  </a:ext>
                </a:extLst>
              </a:tr>
              <a:tr h="3100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LSTM architecture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64→32 units, Dropout, early stopping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Ch. 10: RNNs; vanishing gradient; overfitting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138626"/>
                  </a:ext>
                </a:extLst>
              </a:tr>
              <a:tr h="318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Ablation study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4 feature set configurations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Component contribution analysis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690087"/>
                  </a:ext>
                </a:extLst>
              </a:tr>
              <a:tr h="2997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Permutation importance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Shuffle-and-measure feature relevance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Model-agnostic interpretability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5586285"/>
                  </a:ext>
                </a:extLst>
              </a:tr>
              <a:tr h="3182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PDP / ICE plots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Marginal feature effects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Interpretability; linearity of Ridge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682142"/>
                  </a:ext>
                </a:extLst>
              </a:tr>
              <a:tr h="2997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Expanding-window eval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Walk-forward retraining, mean ± std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Time series cross-validation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653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63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2591</Words>
  <Application>Microsoft Macintosh PowerPoint</Application>
  <PresentationFormat>On-screen Show (16:9)</PresentationFormat>
  <Paragraphs>442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Price Prediction — ECPS 211</dc:title>
  <dc:subject>PptxGenJS Presentation</dc:subject>
  <dc:creator>Tae</dc:creator>
  <cp:lastModifiedBy>Tae Moon</cp:lastModifiedBy>
  <cp:revision>13</cp:revision>
  <dcterms:created xsi:type="dcterms:W3CDTF">2026-02-25T21:09:23Z</dcterms:created>
  <dcterms:modified xsi:type="dcterms:W3CDTF">2026-03-05T18:45:42Z</dcterms:modified>
</cp:coreProperties>
</file>