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Arial"/>
              </a:rPr>
              <a:t>Directional Accuracy by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Dir. Acc.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Last Value</c:v>
                  </c:pt>
                  <c:pt idx="1">
                    <c:v>7-Day MA</c:v>
                  </c:pt>
                  <c:pt idx="2">
                    <c:v>Lag+Ridge</c:v>
                  </c:pt>
                  <c:pt idx="3">
                    <c:v>LSTM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55.3</c:v>
                </c:pt>
                <c:pt idx="2">
                  <c:v>53.2</c:v>
                </c:pt>
                <c:pt idx="3">
                  <c:v>45.6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3A5F"/>
                </a:solidFill>
                <a:latin typeface="Arial"/>
              </a:rPr>
              <a:t>Directional Accuracy by Feature Set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Dir. Acc.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5F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Lags only</c:v>
                  </c:pt>
                  <c:pt idx="1">
                    <c:v>Lags+Volume</c:v>
                  </c:pt>
                  <c:pt idx="2">
                    <c:v>Lags+Volatility</c:v>
                  </c:pt>
                  <c:pt idx="3">
                    <c:v>All Features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53.9</c:v>
                </c:pt>
                <c:pt idx="2">
                  <c:v>52.5</c:v>
                </c:pt>
                <c:pt idx="3">
                  <c:v>53.4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Arial"/>
              </a:rPr>
              <a:t>Directional Accuracy by Asset &amp; Model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Last Value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BTC-USD</c:v>
                  </c:pt>
                  <c:pt idx="1">
                    <c:v>ETH-USD</c:v>
                  </c:pt>
                  <c:pt idx="2">
                    <c:v>XRP-USD</c:v>
                  </c:pt>
                  <c:pt idx="3">
                    <c:v>ETC-USD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7-Day MA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BTC-USD</c:v>
                  </c:pt>
                  <c:pt idx="1">
                    <c:v>ETH-USD</c:v>
                  </c:pt>
                  <c:pt idx="2">
                    <c:v>XRP-USD</c:v>
                  </c:pt>
                  <c:pt idx="3">
                    <c:v>ETC-USD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49.4</c:v>
                </c:pt>
                <c:pt idx="1">
                  <c:v>50.8</c:v>
                </c:pt>
                <c:pt idx="2">
                  <c:v>51.7</c:v>
                </c:pt>
                <c:pt idx="3">
                  <c:v>55.3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Lag+Ridge</c:v>
                </c:pt>
              </c:strCache>
            </c:strRef>
          </c:tx>
          <c:spPr>
            <a:solidFill>
              <a:srgbClr val="2D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BTC-USD</c:v>
                  </c:pt>
                  <c:pt idx="1">
                    <c:v>ETH-USD</c:v>
                  </c:pt>
                  <c:pt idx="2">
                    <c:v>XRP-USD</c:v>
                  </c:pt>
                  <c:pt idx="3">
                    <c:v>ETC-USD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49.8</c:v>
                </c:pt>
                <c:pt idx="1">
                  <c:v>53.7</c:v>
                </c:pt>
                <c:pt idx="2">
                  <c:v>51.1</c:v>
                </c:pt>
                <c:pt idx="3">
                  <c:v>53.2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BTC-USD</c:v>
                  </c:pt>
                  <c:pt idx="1">
                    <c:v>ETH-USD</c:v>
                  </c:pt>
                  <c:pt idx="2">
                    <c:v>XRP-USD</c:v>
                  </c:pt>
                  <c:pt idx="3">
                    <c:v>ETC-USD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50.5</c:v>
                </c:pt>
                <c:pt idx="1">
                  <c:v>52.2</c:v>
                </c:pt>
                <c:pt idx="2">
                  <c:v>53.3</c:v>
                </c:pt>
                <c:pt idx="3">
                  <c:v>45.6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0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ECPS 211  ·  Machine Learning &amp; Data Mining  ·  Winter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Price Prediction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Backtesting  ·  Baselines  ·  LSTM  ·  Ablation Study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ETC-USD (Ethereum Classic) via Yahoo Finance  ·  Project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· yfinance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ETC-USD daily OHLCV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– 2026, ~3 031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(tomorrow = today)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Moving Average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Dir. Acc.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143000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143000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6792" y="1234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4904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+ Ridge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36792" y="180136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price lags + volume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volatility ·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CV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63347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263347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2724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" y="29809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291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 · predicts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back to price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263347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63347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724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5848" y="29809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291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feature-set combos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volatility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helps direction?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2633472"/>
            <a:ext cx="2715768" cy="1298448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2633472"/>
            <a:ext cx="4572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2724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36792" y="298094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36792" y="32918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/ ICE curves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411480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Split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Yahoo Finance via yfinance
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ETC-USD (Ethereum Classic) — configurable
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2017-01-01 to present
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3 031 daily records (OHLCV)
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Forward-fill, dropna
  Timezone-naive datetime index
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Time-based only — no shuffle
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 70%   Val 15%   Test 15%
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(2 121 / 455 / 455 rows)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432511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73168" y="1572768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572768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27632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 rₜ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5623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(Pₜ − Pₜ₋₁) / (Pₜ₋₁ + ε)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Day-over-day price return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73168" y="2368296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368296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42316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volatility_14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rolling std(returns)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85292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3163824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3163824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18688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4728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volume)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6484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volume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3959352"/>
            <a:ext cx="4023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3959352"/>
            <a:ext cx="457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014216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lags 1–30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24281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Pₜ₋₁, Pₜ₋₂, … Pₜ₋₃₀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44398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for Ridge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 &amp;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|yᵢ − ŷᵢ|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of price error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28416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√mean(yᵢ − ŷᵢ)²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more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1344" y="1078992"/>
            <a:ext cx="27432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Dir. Acc.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18504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1737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correct up/down 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18504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trading signal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" y="2487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Principles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28346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splits only — no data shuffling to prevent future leakage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2369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backtest: train on past only, predict one day forward, roll forward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639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TimeSeriesSplit(5) + RandomizedSearchCV for hyperparameter tuning (Ridge α)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0416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period for all models: baselines, Lag+Ridge, and LSTM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44398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fix α=1.0, vary feature sets to isolate contribution of each feature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411480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9728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1 — Last Value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P̂ₜ₊₁  =  Pₜ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price equals today's price.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 from volume or direction.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 is not meaningful (predicts no change → often 0%).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788920"/>
            <a:ext cx="178308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6207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341071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(ETC-USD)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2788920"/>
            <a:ext cx="1783080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0008" y="2862072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350008" y="3410712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(ETC-USD)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886200"/>
            <a:ext cx="3566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3192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on MAE &amp; RMSE across all assets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Directional accuracy is not meaningful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97280"/>
            <a:ext cx="4325112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097280"/>
            <a:ext cx="4325112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2 — 7-Day Moving Average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1627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P̂ₜ₊₁  =  (1/7) Σᵢ₌₀⁶ Pₜ₋ᵢ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73168" y="2057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price over 7 prior days.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local trend, filters single-day noise.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 is meaningful (predicts a direction).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73168" y="2788920"/>
            <a:ext cx="18013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86207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882896" y="341071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93408" y="2788920"/>
            <a:ext cx="18013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2862072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803136" y="3410712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Acc.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73168" y="38862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9319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directional accuracy among baselines (55.3%)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Higher MAE/RMSE than last value (more smoothing error)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LAG-FEATURE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Regression with Lag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84632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(32 total):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Lags 1–30 (price)  +  log_volume  +  volatility_14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854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StandardScaler on all 32 columns via ColumnTransformer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980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Ridge regression (linear; regularized)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46704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107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search: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TimeSeriesSplit(5) + RandomizedSearchCV, 10 iters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neg_mean_absolute_error · α ∈ [0.01, 100]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59352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023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α: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0.01 (from CV on ETC-USD)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078992"/>
            <a:ext cx="368503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Results (ETC-USD)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13248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22976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5744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1.178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05472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13248" y="2706624"/>
            <a:ext cx="325526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53.2%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22976" y="332841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3785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Backtest Results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past only → predict next day → roll forward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531 training points per step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13248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1.38  ·  RMSE 3.49  ·  Dir.Acc 52.7%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13248" y="46817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error than fixed split — rolling is stricter (retrain daily)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Architecture &amp;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84632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Next-day return rₜ (not raw price)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Converted: P̂ₜ₊₁ = Pₜ · (1 + r̂ₜ)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31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Length 30; 3 channels per timestep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(return, log_volume, volatility_14)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25496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895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StandardScaler fit on train; applied to val/test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83864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4787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LSTM(32) → LSTM(16) → Dense(1)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42232"/>
            <a:ext cx="44805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206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MSE loss · batch 32 · 30 epochs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set = same time-based val split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078992"/>
            <a:ext cx="368503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 Results (ETC-USD)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13248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522976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95744" y="1572768"/>
            <a:ext cx="1572768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164592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05472" y="2194560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13248" y="2706624"/>
            <a:ext cx="3255264" cy="10241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2976" y="277977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45.6%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522976" y="3328416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13248" y="3785616"/>
            <a:ext cx="325526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3840480"/>
            <a:ext cx="29626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MAE is close to last value (0.609 vs 0.575), but directional accuracy falls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worse than random guessing on ETC-USD.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Comparison (ETC-USD, Test Set)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78992"/>
          <a:ext cx="8741664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3163824"/>
              </a:tblGrid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magnitude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7-Day 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 + Ridge (CV)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dir.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50% dir.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201168" y="3584448"/>
          <a:ext cx="49377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349240" y="3584448"/>
            <a:ext cx="3593592" cy="1417320"/>
          </a:xfrm>
          <a:prstGeom prst="rect">
            <a:avLst/>
          </a:prstGeom>
          <a:solidFill>
            <a:srgbClr val="F0F9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04688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504688" y="3950208"/>
            <a:ext cx="3291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wins MAE/RMSE — hard to beat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MA wins direction at 55.3%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falls below 50% on ETC-USD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01168" y="4956048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Last value predicts no change; directional accuracy = 0% is not meaningful.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Ablation — What Actually Helps?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78992"/>
          <a:ext cx="8741664" cy="219456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463040"/>
                <a:gridCol w="1463040"/>
                <a:gridCol w="1609344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1.098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+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+ Volatility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+ Vol + Volat.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201168" y="3401568"/>
          <a:ext cx="47548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5166360" y="3401568"/>
            <a:ext cx="3776472" cy="1600200"/>
          </a:xfrm>
          <a:prstGeom prst="rect">
            <a:avLst/>
          </a:prstGeom>
          <a:solidFill>
            <a:srgbClr val="F0F9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21808" y="3493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Insight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21808" y="37947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 only best for MAE / RMSE
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volume: largest direction gain
   (+1.9 pp vs lags only)
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smaller direction gain
</a:t>
            </a:r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extra features improve direction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at small cost to magnitude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 · PDP / 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114800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 (Best Lag+Ridge)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each feature 10× · measure MAE increase · ETC-USD test set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01952" y="1847088"/>
            <a:ext cx="3474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volatility_14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01952" y="2414016"/>
            <a:ext cx="265176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140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962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01952" y="2980944"/>
            <a:ext cx="192024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809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529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01952" y="3547872"/>
            <a:ext cx="137160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478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096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01952" y="4114800"/>
            <a:ext cx="1005840" cy="237744"/>
          </a:xfrm>
          <a:prstGeom prst="rect">
            <a:avLst/>
          </a:prstGeom>
          <a:solidFill>
            <a:srgbClr val="2D5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148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features are log_volume, volatility_14, and lag_15 (mid-range lag).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Surprisingly, recent lag_1 is less important than volume and volatility.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078992"/>
            <a:ext cx="4325112" cy="3794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PDP / ICE Insights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73168" y="1572768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1572768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9568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linear PDP — higher lag_1 → higher prediction. Effect is homogeneous across ICE curves (Ridge is linear in features).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73168" y="3054096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3054096"/>
            <a:ext cx="457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log_volume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4381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PDP — volume has a weaker marginal effect on price than lag features, but matters for directional accuracy (ablation).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46268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curves for lag_1 show similar slope across samples — the linear effect is consistent, not sample-specific.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Model Fail?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07899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7899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Long-Tailed Residuals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histogram is centered near zero but has heavy tails — large errors occur in both directions, indicating the model cannot handle sharp price moves.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07899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52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Clustered Errors Over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not uniformly distributed across time. They cluster in volatility regimes — calm periods have smaller errors; turbulent periods have large errors.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99923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299923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High-Volatility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|Residual| vs volatility_14 plot shows a positive correlation — larger absolute errors occur when the 14-day rolling volatility is high. Model performs worst in volatile markets.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2999232"/>
            <a:ext cx="420624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999232"/>
            <a:ext cx="4206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Smoothed Extrapolation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Lag+Ridge behaves like a smoothed extrapolation of recent price lags. It systematically under- or over-predicts during sharp moves and mean-reverting spikes.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4773168"/>
            <a:ext cx="8741664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8188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Lag+Ridge (and simpler models) are smoothing extrapolators — they fail most in high-volatility regimes and on large price moves.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Across Cryptocurrencies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01168" y="1078992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79008" y="1078992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79008" y="1078992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1430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BTC-USD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371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LSTM dir. edge (50.5%)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5910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near 50%; last value best MAE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79008" y="2048256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79008" y="2048256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1122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ETH-USD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97880" y="2340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Lag+Ridge (53.7%)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97880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directionally predictable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79008" y="3017520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79008" y="301752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97880" y="3081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XRP-USD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3310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LSTM (53.3%)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97880" y="3529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asset where LSTM wins direction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79008" y="3986784"/>
            <a:ext cx="3163824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79008" y="3986784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97880" y="40507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ETC-USD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97880" y="4279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dir.: 7-Day MA (55.3%)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97880" y="4498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directional result; LSTM &lt; 50%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01168" y="4663440"/>
            <a:ext cx="8741664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47183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wins MAE/RMSE on every asset. ETC has the strongest direction signal (55.3%); ETH is next (53.7%); XRP is the only asset where LSTM wins direction (53.3%); BTC is weakest (best = LSTM 50.5%).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20116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BACKTEST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" y="40233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Rolling Evaluation — No Future Leakage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Rolling Backtest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5087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37960" y="14630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5270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9202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965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984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9202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9842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23774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423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441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Days 1–533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23774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24414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Day 534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0" y="2834640"/>
            <a:ext cx="5303520" cy="32004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28803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2898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834640"/>
            <a:ext cx="1463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28986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" y="336499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531 training points (500 + 31 lag padding) required per step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1168" y="3657600"/>
            <a:ext cx="8741664" cy="13898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49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Split vs. Rolling Backtest — Lag+Ridge (ETC-USD)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41648"/>
          <a:ext cx="837590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36392"/>
                <a:gridCol w="3136392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Fixed-Split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Backtest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competitive:  </a:t>
            </a:r>
            <a:pPr indent="0" marL="0">
              <a:buNone/>
            </a:pP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value achieves best MAE/RMSE across all assets — a surprisingly strong benchmark.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901952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933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Lag+Ridge on direction:  </a:t>
            </a:r>
            <a:pPr indent="0" marL="0">
              <a:buNone/>
            </a:pP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53.2% directional accuracy on ETC-USD (vs 55.3% for 7-day MA) — competitive but not dominant.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615184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0662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does not dominate:  </a:t>
            </a:r>
            <a:pPr indent="0" marL="0">
              <a:buNone/>
            </a:pP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below 50% directional accuracy on ETC-USD (45.6%). No consistent edge over simpler models across assets.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328416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1985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insight:  </a:t>
            </a:r>
            <a:pPr indent="0" marL="0">
              <a:buNone/>
            </a:pP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improves direction most (+1.9 pp); lags-only best for MAE/RMSE. Extra features improve direction at a small error cost.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041648"/>
            <a:ext cx="8229600" cy="0"/>
          </a:xfrm>
          <a:prstGeom prst="line">
            <a:avLst/>
          </a:prstGeom>
          <a:noFill/>
          <a:ln w="6350">
            <a:solidFill>
              <a:srgbClr val="2D5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330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 </a:t>
            </a:r>
            <a:pPr indent="0" marL="0">
              <a:buNone/>
            </a:pPr>
            <a:r>
              <a:rPr lang="en-US" sz="1200" dirty="0">
                <a:solidFill>
                  <a:srgbClr val="B0D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fail most in high-volatility regimes and on large moves. Rolling backtest is notably stricter than fixed-split evaluation.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notebooks/Crypto_Colab_AllInOne_v6.ipynb  ·  Set ASSET and run all cells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Price Prediction — ECPS 211</dc:title>
  <dc:subject>PptxGenJS Presentation</dc:subject>
  <dc:creator>Tae</dc:creator>
  <cp:lastModifiedBy>Tae</cp:lastModifiedBy>
  <cp:revision>1</cp:revision>
  <dcterms:created xsi:type="dcterms:W3CDTF">2026-02-25T21:09:23Z</dcterms:created>
  <dcterms:modified xsi:type="dcterms:W3CDTF">2026-02-25T21:09:23Z</dcterms:modified>
</cp:coreProperties>
</file>